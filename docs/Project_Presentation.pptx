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35240" y="0"/>
            <a:ext cx="4553712" cy="6446520"/>
          </a:xfrm>
          <a:prstGeom prst="roundRect">
            <a:avLst>
              <a:gd name="adj" fmla="val 15000"/>
            </a:avLst>
          </a:prstGeom>
          <a:solidFill>
            <a:srgbClr val="29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79" y="914400"/>
            <a:ext cx="3474720" cy="3474720"/>
          </a:xfrm>
          <a:prstGeom prst="ellipse">
            <a:avLst/>
          </a:prstGeom>
          <a:solidFill>
            <a:srgbClr val="33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1325880"/>
            <a:ext cx="2651760" cy="2651760"/>
          </a:xfrm>
          <a:prstGeom prst="ellipse">
            <a:avLst/>
          </a:prstGeom>
          <a:solidFill>
            <a:srgbClr val="3C48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23960" y="1783080"/>
            <a:ext cx="1737360" cy="1737360"/>
          </a:xfrm>
          <a:prstGeom prst="ellipse">
            <a:avLst/>
          </a:prstGeom>
          <a:solidFill>
            <a:srgbClr val="8AD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49640" y="1828800"/>
            <a:ext cx="2514600" cy="2103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96528" y="2148840"/>
            <a:ext cx="201168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800" b="1" i="0">
                <a:solidFill>
                  <a:srgbClr val="202747"/>
                </a:solidFill>
                <a:latin typeface="Aptos Display"/>
              </a:rPr>
              <a:t>cc.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6528" y="2880360"/>
            <a:ext cx="196596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C8E7D"/>
                </a:solidFill>
                <a:latin typeface="Aptos"/>
              </a:rPr>
              <a:t>CAMPUS / CONNECTED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6928"/>
            <a:ext cx="36576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8AD5C1"/>
                </a:solidFill>
                <a:latin typeface="Aptos"/>
              </a:rPr>
              <a:t>SVNIT SURAT  ·  CSE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17320"/>
            <a:ext cx="6492240" cy="1417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ptos Display"/>
              </a:rPr>
              <a:t>CampusConnect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16352"/>
            <a:ext cx="6035040" cy="6858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000" b="0" i="0">
                <a:solidFill>
                  <a:srgbClr val="D9DEED"/>
                </a:solidFill>
                <a:latin typeface="Aptos Display"/>
              </a:rPr>
              <a:t>A student campus events &amp; community portal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86200"/>
            <a:ext cx="731520" cy="45720"/>
          </a:xfrm>
          <a:prstGeom prst="roundRect">
            <a:avLst>
              <a:gd name="adj" fmla="val 15000"/>
            </a:avLst>
          </a:prstGeom>
          <a:solidFill>
            <a:srgbClr val="8AD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87952"/>
            <a:ext cx="5669280" cy="6858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C3C9DB"/>
                </a:solidFill>
                <a:latin typeface="Aptos"/>
              </a:rPr>
              <a:t>DATABASE MANAGEMENT SYSTEMS  ·  CS203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00600"/>
            <a:ext cx="576072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AEB6CC"/>
                </a:solidFill>
                <a:latin typeface="Aptos"/>
              </a:rPr>
              <a:t>B.Tech. II CSE  |  Semester III  |  Academic Year 2026–27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23560"/>
            <a:ext cx="566928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AEB6CC"/>
                </a:solidFill>
                <a:latin typeface="Aptos"/>
              </a:rPr>
              <a:t>Team: [registered team name]  •  Members: [add names &amp; roll numbers]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750" b="1" i="0">
                <a:solidFill>
                  <a:srgbClr val="AEB5CC"/>
                </a:solidFill>
                <a:latin typeface="Aptos"/>
              </a:rPr>
              <a:t>CAMPUSCONNECT  /  CS203 DBMS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750" b="1" i="0">
                <a:solidFill>
                  <a:srgbClr val="AEB5CC"/>
                </a:solidFill>
                <a:latin typeface="Aptos"/>
              </a:rPr>
              <a:t>01  / 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103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C8E7D"/>
                </a:solidFill>
                <a:latin typeface="Aptos"/>
              </a:rPr>
              <a:t>01 / PROJECT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202747"/>
                </a:solidFill>
                <a:latin typeface="Aptos Display"/>
              </a:rPr>
              <a:t>Campus life is connected. Campus information often is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77B90"/>
                </a:solidFill>
                <a:latin typeface="Aptos"/>
              </a:rPr>
              <a:t>CampusConnect puts the everyday student experience into one database-backed portal.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520440" cy="2103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4864" cy="2103120"/>
          </a:xfrm>
          <a:prstGeom prst="roundRect">
            <a:avLst>
              <a:gd name="adj" fmla="val 15000"/>
            </a:avLst>
          </a:prstGeom>
          <a:solidFill>
            <a:srgbClr val="FF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193852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FF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202747"/>
                </a:solidFill>
                <a:latin typeface="Aptos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2642615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202747"/>
                </a:solidFill>
                <a:latin typeface="Aptos Display"/>
              </a:rPr>
              <a:t>Scattered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04872"/>
            <a:ext cx="3108960" cy="1307591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Events and notices can be spread across chats, posters, club pages, and informal networks.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520440" cy="2103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54864" cy="2103120"/>
          </a:xfrm>
          <a:prstGeom prst="roundRect">
            <a:avLst>
              <a:gd name="adj" fmla="val 15000"/>
            </a:avLst>
          </a:prstGeom>
          <a:solidFill>
            <a:srgbClr val="E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44568" y="193852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E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938528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202747"/>
                </a:solidFill>
                <a:latin typeface="Aptos"/>
              </a:rPr>
              <a:t>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920240"/>
            <a:ext cx="2642616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202747"/>
                </a:solidFill>
                <a:latin typeface="Aptos Display"/>
              </a:rPr>
              <a:t>Hard to 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404872"/>
            <a:ext cx="3108960" cy="1307591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Students may not know which clubs are active or where to find a relevant campus activity.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37360"/>
            <a:ext cx="3520440" cy="21031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737360"/>
            <a:ext cx="54864" cy="2103120"/>
          </a:xfrm>
          <a:prstGeom prst="roundRect">
            <a:avLst>
              <a:gd name="adj" fmla="val 15000"/>
            </a:avLst>
          </a:prstGeom>
          <a:solidFill>
            <a:srgbClr val="8AD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7888" y="193852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8AD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938528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202747"/>
                </a:solidFill>
                <a:latin typeface="Aptos"/>
              </a:rPr>
              <a:t>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920240"/>
            <a:ext cx="2642615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202747"/>
                </a:solidFill>
                <a:latin typeface="Aptos Display"/>
              </a:rPr>
              <a:t>Manual coordination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404872"/>
            <a:ext cx="3108960" cy="1307591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Organisers need a consistent way to publish events, maintain registrations, and share updates.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51960"/>
            <a:ext cx="10927080" cy="1417320"/>
          </a:xfrm>
          <a:prstGeom prst="roundRect">
            <a:avLst>
              <a:gd name="adj" fmla="val 15000"/>
            </a:avLst>
          </a:prstGeom>
          <a:solidFill>
            <a:srgbClr val="2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80560"/>
            <a:ext cx="219456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8AD5C1"/>
                </a:solidFill>
                <a:latin typeface="Aptos"/>
              </a:rPr>
              <a:t>THE PROPOSED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800600"/>
            <a:ext cx="726948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ptos Display"/>
              </a:rPr>
              <a:t>One student-friendly home for events, clubs, registrations, and announcements.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4690872"/>
            <a:ext cx="1920240" cy="411480"/>
          </a:xfrm>
          <a:prstGeom prst="roundRect">
            <a:avLst>
              <a:gd name="adj" fmla="val 15000"/>
            </a:avLst>
          </a:prstGeom>
          <a:solidFill>
            <a:srgbClr val="31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2872" y="4690872"/>
            <a:ext cx="1773936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DESIGNED FOR CS203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750" b="1" i="0">
                <a:solidFill>
                  <a:srgbClr val="9498A8"/>
                </a:solidFill>
                <a:latin typeface="Aptos"/>
              </a:rPr>
              <a:t>CAMPUSCONNECT  /  CS203 DBMS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750" b="1" i="0">
                <a:solidFill>
                  <a:srgbClr val="9498A8"/>
                </a:solidFill>
                <a:latin typeface="Aptos"/>
              </a:rPr>
              <a:t>02  / 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103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C8E7D"/>
                </a:solidFill>
                <a:latin typeface="Aptos"/>
              </a:rPr>
              <a:t>02 /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202747"/>
                </a:solidFill>
                <a:latin typeface="Aptos Display"/>
              </a:rPr>
              <a:t>Four core experiences. One shared data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77B90"/>
                </a:solidFill>
                <a:latin typeface="Aptos"/>
              </a:rPr>
              <a:t>The prototype focuses on explainable database operations rather than an oversized feature 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633472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4864" cy="1828800"/>
          </a:xfrm>
          <a:prstGeom prst="roundRect">
            <a:avLst>
              <a:gd name="adj" fmla="val 15000"/>
            </a:avLst>
          </a:prstGeom>
          <a:solidFill>
            <a:srgbClr val="8AD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189280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8AD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92808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202747"/>
                </a:solidFill>
                <a:latin typeface="Aptos"/>
              </a:rPr>
              <a:t>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17556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202747"/>
                </a:solidFill>
                <a:latin typeface="Aptos Display"/>
              </a:rPr>
              <a:t>Discover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59152"/>
            <a:ext cx="2221991" cy="1033271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Search future and past events; view date, venue, host club, and capacity.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691640"/>
            <a:ext cx="2633472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47288" y="1691640"/>
            <a:ext cx="54864" cy="1828800"/>
          </a:xfrm>
          <a:prstGeom prst="roundRect">
            <a:avLst>
              <a:gd name="adj" fmla="val 15000"/>
            </a:avLst>
          </a:prstGeom>
          <a:solidFill>
            <a:srgbClr val="E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48456" y="189280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E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1892808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202747"/>
                </a:solidFill>
                <a:latin typeface="Aptos"/>
              </a:rPr>
              <a:t>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874520"/>
            <a:ext cx="1755647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202747"/>
                </a:solidFill>
                <a:latin typeface="Aptos Display"/>
              </a:rPr>
              <a:t>Join communities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59152"/>
            <a:ext cx="2221991" cy="1033271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Browse clubs and create or end a membership relationship.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691640"/>
            <a:ext cx="2633472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54496" y="1691640"/>
            <a:ext cx="54864" cy="1828800"/>
          </a:xfrm>
          <a:prstGeom prst="roundRect">
            <a:avLst>
              <a:gd name="adj" fmla="val 15000"/>
            </a:avLst>
          </a:prstGeom>
          <a:solidFill>
            <a:srgbClr val="FF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55664" y="189280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FF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892808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202747"/>
                </a:solidFill>
                <a:latin typeface="Aptos"/>
              </a:rPr>
              <a:t>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1874520"/>
            <a:ext cx="17556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202747"/>
                </a:solidFill>
                <a:latin typeface="Aptos Display"/>
              </a:rPr>
              <a:t>Stay in the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359152"/>
            <a:ext cx="2221991" cy="1033271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Read announcements based on audience and optional expiry.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1704" y="1691640"/>
            <a:ext cx="2487168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61704" y="1691640"/>
            <a:ext cx="54864" cy="1828800"/>
          </a:xfrm>
          <a:prstGeom prst="roundRect">
            <a:avLst>
              <a:gd name="adj" fmla="val 15000"/>
            </a:avLst>
          </a:prstGeom>
          <a:solidFill>
            <a:srgbClr val="3C8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62872" y="189280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3C8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2872" y="1892808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202747"/>
                </a:solidFill>
                <a:latin typeface="Aptos"/>
              </a:rPr>
              <a:t>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224" y="1874520"/>
            <a:ext cx="1609343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202747"/>
                </a:solidFill>
                <a:latin typeface="Aptos Display"/>
              </a:rPr>
              <a:t>Manage the portal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2359152"/>
            <a:ext cx="2075688" cy="1033271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Admin can publish, edit, or delete event and campus content.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069080"/>
            <a:ext cx="283464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3C8E7D"/>
                </a:solidFill>
                <a:latin typeface="Aptos"/>
              </a:rPr>
              <a:t>KEY REQUIREMENTS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462272"/>
            <a:ext cx="516636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544568"/>
            <a:ext cx="1965960" cy="2103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202747"/>
                </a:solidFill>
                <a:latin typeface="Aptos"/>
              </a:rPr>
              <a:t>Account &amp;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15768" y="4535424"/>
            <a:ext cx="2926080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777B90"/>
                </a:solidFill>
                <a:latin typeface="Aptos"/>
              </a:rPr>
              <a:t>Registration, login, profile updates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462272"/>
            <a:ext cx="516636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544568"/>
            <a:ext cx="1965960" cy="2103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202747"/>
                </a:solidFill>
                <a:latin typeface="Aptos"/>
              </a:rPr>
              <a:t>Capacity-aware registration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535424"/>
            <a:ext cx="2926080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777B90"/>
                </a:solidFill>
                <a:latin typeface="Aptos"/>
              </a:rPr>
              <a:t>No duplicate pair; check available spots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212080"/>
            <a:ext cx="516636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" y="5294376"/>
            <a:ext cx="1965960" cy="2103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202747"/>
                </a:solidFill>
                <a:latin typeface="Aptos"/>
              </a:rPr>
              <a:t>Role-based administration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15768" y="5285232"/>
            <a:ext cx="2926080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777B90"/>
                </a:solidFill>
                <a:latin typeface="Aptos"/>
              </a:rPr>
              <a:t>Admin routes protected on server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212080"/>
            <a:ext cx="516636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5294376"/>
            <a:ext cx="1965960" cy="2103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202747"/>
                </a:solidFill>
                <a:latin typeface="Aptos"/>
              </a:rPr>
              <a:t>Integrity by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285232"/>
            <a:ext cx="2926080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777B90"/>
                </a:solidFill>
                <a:latin typeface="Aptos"/>
              </a:rPr>
              <a:t>PK, FK, CHECK, UNIQUE, indexes, views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750" b="1" i="0">
                <a:solidFill>
                  <a:srgbClr val="9498A8"/>
                </a:solidFill>
                <a:latin typeface="Aptos"/>
              </a:rPr>
              <a:t>CAMPUSCONNECT  /  CS203 DBMS 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750" b="1" i="0">
                <a:solidFill>
                  <a:srgbClr val="9498A8"/>
                </a:solidFill>
                <a:latin typeface="Aptos"/>
              </a:rPr>
              <a:t>03  / 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103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C8E7D"/>
                </a:solidFill>
                <a:latin typeface="Aptos"/>
              </a:rPr>
              <a:t>03 /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202747"/>
                </a:solidFill>
                <a:latin typeface="Aptos Display"/>
              </a:rPr>
              <a:t>Different roles. Clear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77B90"/>
                </a:solidFill>
                <a:latin typeface="Aptos"/>
              </a:rPr>
              <a:t>A student-facing experience, with a separate administrator control room.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73352"/>
            <a:ext cx="5212080" cy="429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938528"/>
            <a:ext cx="1188720" cy="310896"/>
          </a:xfrm>
          <a:prstGeom prst="roundRect">
            <a:avLst>
              <a:gd name="adj" fmla="val 15000"/>
            </a:avLst>
          </a:prstGeom>
          <a:solidFill>
            <a:srgbClr val="EA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38528"/>
            <a:ext cx="10424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3C8E7D"/>
                </a:solidFill>
                <a:latin typeface="Aptos"/>
              </a:rP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4480560" cy="3931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202747"/>
                </a:solidFill>
                <a:latin typeface="Aptos Display"/>
              </a:rPr>
              <a:t>Find what is happening.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30632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EA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063240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3C8E7D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054096"/>
            <a:ext cx="347472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202747"/>
                </a:solidFill>
                <a:latin typeface="Aptos"/>
              </a:rPr>
              <a:t>Create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310128"/>
            <a:ext cx="388620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777B90"/>
                </a:solidFill>
                <a:latin typeface="Aptos"/>
              </a:rPr>
              <a:t>Name, email, department, study 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381304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EA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13048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3C8E7D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803904"/>
            <a:ext cx="347472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202747"/>
                </a:solidFill>
                <a:latin typeface="Aptos"/>
              </a:rPr>
              <a:t>Explore events &amp; clubs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059935"/>
            <a:ext cx="388620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777B90"/>
                </a:solidFill>
                <a:latin typeface="Aptos"/>
              </a:rPr>
              <a:t>Search events, join clubs, read notices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56285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EA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562856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3C8E7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553712"/>
            <a:ext cx="347472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202747"/>
                </a:solidFill>
                <a:latin typeface="Aptos"/>
              </a:rPr>
              <a:t>Take part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809744"/>
            <a:ext cx="388620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777B90"/>
                </a:solidFill>
                <a:latin typeface="Aptos"/>
              </a:rPr>
              <a:t>Register, cancel, update personal profile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673352"/>
            <a:ext cx="5394960" cy="4297680"/>
          </a:xfrm>
          <a:prstGeom prst="roundRect">
            <a:avLst>
              <a:gd name="adj" fmla="val 15000"/>
            </a:avLst>
          </a:prstGeom>
          <a:solidFill>
            <a:srgbClr val="2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28232" y="1938528"/>
            <a:ext cx="1572768" cy="310896"/>
          </a:xfrm>
          <a:prstGeom prst="roundRect">
            <a:avLst>
              <a:gd name="adj" fmla="val 15000"/>
            </a:avLst>
          </a:prstGeom>
          <a:solidFill>
            <a:srgbClr val="354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1938528"/>
            <a:ext cx="1426464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8AD5C1"/>
                </a:solidFill>
                <a:latin typeface="Aptos"/>
              </a:rPr>
              <a:t>ADMINISTRATOR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395728"/>
            <a:ext cx="4480560" cy="3931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 Display"/>
              </a:rPr>
              <a:t>Keep the campus feed fresh.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28232" y="30632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364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3063240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8AD5C1"/>
                </a:solidFill>
                <a:latin typeface="Apto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3054096"/>
            <a:ext cx="347472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Publish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3310128"/>
            <a:ext cx="388620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1C8D9"/>
                </a:solidFill>
                <a:latin typeface="Aptos"/>
              </a:rPr>
              <a:t>Create events, clubs, and announcements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8232" y="381304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364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3813048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8AD5C1"/>
                </a:solidFill>
                <a:latin typeface="Apto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3803904"/>
            <a:ext cx="347472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Maintain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4059935"/>
            <a:ext cx="388620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1C8D9"/>
                </a:solidFill>
                <a:latin typeface="Aptos"/>
              </a:rPr>
              <a:t>Edit event details and remove stale content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28232" y="4562856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364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4562856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8AD5C1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4553712"/>
            <a:ext cx="347472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Review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4809744"/>
            <a:ext cx="388620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1C8D9"/>
                </a:solidFill>
                <a:latin typeface="Aptos"/>
              </a:rPr>
              <a:t>See event counts and registration totals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750" b="1" i="0">
                <a:solidFill>
                  <a:srgbClr val="9498A8"/>
                </a:solidFill>
                <a:latin typeface="Aptos"/>
              </a:rPr>
              <a:t>CAMPUSCONNECT  /  CS203 DBMS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750" b="1" i="0">
                <a:solidFill>
                  <a:srgbClr val="9498A8"/>
                </a:solidFill>
                <a:latin typeface="Aptos"/>
              </a:rPr>
              <a:t>04  / 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19456"/>
            <a:ext cx="3657600" cy="2103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C8E7D"/>
                </a:solidFill>
                <a:latin typeface="Aptos"/>
              </a:rPr>
              <a:t>04 / CONCEPTUAL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202747"/>
                </a:solidFill>
                <a:latin typeface="Aptos Display"/>
              </a:rPr>
              <a:t>The 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Six relations cover identity, activities, and the two many-to-many relationships.</a:t>
            </a:r>
          </a:p>
        </p:txBody>
      </p:sp>
      <p:pic>
        <p:nvPicPr>
          <p:cNvPr id="5" name="Picture 4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43000"/>
            <a:ext cx="10104120" cy="47218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64224"/>
            <a:ext cx="7315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777B90"/>
                </a:solidFill>
                <a:latin typeface="Aptos"/>
              </a:rPr>
              <a:t>PK = primary key  ·  FK = foreign key  ·  Relationship cardinalities are also listed in the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750" b="1" i="0">
                <a:solidFill>
                  <a:srgbClr val="9498A8"/>
                </a:solidFill>
                <a:latin typeface="Aptos"/>
              </a:rPr>
              <a:t>CAMPUSCONNECT  /  CS203 DBMS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750" b="1" i="0">
                <a:solidFill>
                  <a:srgbClr val="9498A8"/>
                </a:solidFill>
                <a:latin typeface="Aptos"/>
              </a:rPr>
              <a:t>05  / 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103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C8E7D"/>
                </a:solidFill>
                <a:latin typeface="Aptos"/>
              </a:rPr>
              <a:t>05 / LOGICAL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202747"/>
                </a:solidFill>
                <a:latin typeface="Aptos Display"/>
              </a:rPr>
              <a:t>The relationship tables do the heavy lifting.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77B90"/>
                </a:solidFill>
                <a:latin typeface="Aptos"/>
              </a:rPr>
              <a:t>The logical schema maps each entity to a table and resolves many-to-many relationships explicitly.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91640"/>
            <a:ext cx="5212080" cy="12070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212080" cy="347472"/>
          </a:xfrm>
          <a:prstGeom prst="roundRect">
            <a:avLst>
              <a:gd name="adj" fmla="val 15000"/>
            </a:avLst>
          </a:prstGeom>
          <a:solidFill>
            <a:srgbClr val="8AD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28216"/>
            <a:ext cx="4882896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202747"/>
                </a:solidFill>
                <a:latin typeface="Aptos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484632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user_id (PK) · email (UNIQUE)
full_name · password_hash · department
study_year · role · created_at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91640"/>
            <a:ext cx="5303520" cy="12070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91640"/>
            <a:ext cx="5303520" cy="347472"/>
          </a:xfrm>
          <a:prstGeom prst="roundRect">
            <a:avLst>
              <a:gd name="adj" fmla="val 15000"/>
            </a:avLst>
          </a:prstGeom>
          <a:solidFill>
            <a:srgbClr val="E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28216"/>
            <a:ext cx="4974336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202747"/>
                </a:solidFill>
                <a:latin typeface="Aptos"/>
              </a:rPr>
              <a:t>CLUBS /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30552"/>
            <a:ext cx="4937759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clubs: club_id (PK), name (UNIQUE)
events: event_id (PK), event_date, capacity
club_id / created_by (FK)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46120"/>
            <a:ext cx="5212080" cy="12070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246120"/>
            <a:ext cx="5212080" cy="347472"/>
          </a:xfrm>
          <a:prstGeom prst="roundRect">
            <a:avLst>
              <a:gd name="adj" fmla="val 15000"/>
            </a:avLst>
          </a:prstGeom>
          <a:solidFill>
            <a:srgbClr val="FF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282696"/>
            <a:ext cx="4882896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202747"/>
                </a:solidFill>
                <a:latin typeface="Aptos"/>
              </a:rPr>
              <a:t>CLUB_MEMBERSHIPS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685031"/>
            <a:ext cx="4846320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Composite PK: (user_id, club_id)
joined_at · status
Resolves users ↔ clubs (M:N)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3246120"/>
            <a:ext cx="5303520" cy="12070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8" y="3246120"/>
            <a:ext cx="5303520" cy="347472"/>
          </a:xfrm>
          <a:prstGeom prst="roundRect">
            <a:avLst>
              <a:gd name="adj" fmla="val 15000"/>
            </a:avLst>
          </a:prstGeom>
          <a:solidFill>
            <a:srgbClr val="3C8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82696"/>
            <a:ext cx="4974336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202747"/>
                </a:solidFill>
                <a:latin typeface="Aptos"/>
              </a:rPr>
              <a:t>EVENT_REGISTRATIONS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685031"/>
            <a:ext cx="4937759" cy="6675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Composite PK: (event_id, user_id)
registered_at · status
Resolves users ↔ events (M:N)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36592"/>
            <a:ext cx="10881360" cy="987552"/>
          </a:xfrm>
          <a:prstGeom prst="roundRect">
            <a:avLst>
              <a:gd name="adj" fmla="val 15000"/>
            </a:avLst>
          </a:prstGeom>
          <a:solidFill>
            <a:srgbClr val="2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01184"/>
            <a:ext cx="137160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8AD5C1"/>
                </a:solidFill>
                <a:latin typeface="Aptos"/>
              </a:rPr>
              <a:t>NORMALISATION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93792"/>
            <a:ext cx="978408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1NF: atomic fields   ·   2NF: relationship attributes depend on full composite keys   ·   3NF: club/event/profile facts stored once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5907024"/>
            <a:ext cx="1051560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 i="1">
                <a:solidFill>
                  <a:srgbClr val="777B90"/>
                </a:solidFill>
                <a:latin typeface="Aptos"/>
              </a:rPr>
              <a:t>Announcements are stored separately; event registration counts are derived in a view instead of duplicated in the Events 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750" b="1" i="0">
                <a:solidFill>
                  <a:srgbClr val="9498A8"/>
                </a:solidFill>
                <a:latin typeface="Aptos"/>
              </a:rPr>
              <a:t>CAMPUSCONNECT  /  CS203 DBMS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750" b="1" i="0">
                <a:solidFill>
                  <a:srgbClr val="9498A8"/>
                </a:solidFill>
                <a:latin typeface="Aptos"/>
              </a:rPr>
              <a:t>06  / 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103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C8E7D"/>
                </a:solidFill>
                <a:latin typeface="Aptos"/>
              </a:rPr>
              <a:t>06 / PHYSICAL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202747"/>
                </a:solidFill>
                <a:latin typeface="Aptos Display"/>
              </a:rPr>
              <a:t>Integrity rules are part of the database—not just the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77B90"/>
                </a:solidFill>
                <a:latin typeface="Aptos"/>
              </a:rPr>
              <a:t>The package includes SQLite for a quick local demo and MySQL 8 DDL for SQL demonstration.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3456432" cy="187451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4864" cy="1874519"/>
          </a:xfrm>
          <a:prstGeom prst="roundRect">
            <a:avLst>
              <a:gd name="adj" fmla="val 15000"/>
            </a:avLst>
          </a:prstGeom>
          <a:solidFill>
            <a:srgbClr val="8AD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193852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8AD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202747"/>
                </a:solidFill>
                <a:latin typeface="Aptos"/>
              </a:rPr>
              <a:t>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920240"/>
            <a:ext cx="2578607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202747"/>
                </a:solidFill>
                <a:latin typeface="Aptos Display"/>
              </a:rPr>
              <a:t>Keys &amp; relationships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04872"/>
            <a:ext cx="3044951" cy="1078991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Primary keys, foreign keys, composite keys, and cascades prevent orphan or duplicate relationship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37360"/>
            <a:ext cx="3456432" cy="187451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61688" y="1737360"/>
            <a:ext cx="54864" cy="1874519"/>
          </a:xfrm>
          <a:prstGeom prst="roundRect">
            <a:avLst>
              <a:gd name="adj" fmla="val 15000"/>
            </a:avLst>
          </a:prstGeom>
          <a:solidFill>
            <a:srgbClr val="FF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62855" y="193852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FF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5" y="1938528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202747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7" y="1920240"/>
            <a:ext cx="257860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202747"/>
                </a:solidFill>
                <a:latin typeface="Aptos Display"/>
              </a:rPr>
              <a:t>Domain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04872"/>
            <a:ext cx="3044951" cy="1078991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UNIQUE email/name, CHECK ranges, and valid role/status/audience values restrict invalid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737360"/>
            <a:ext cx="3456432" cy="187451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5008" y="1737360"/>
            <a:ext cx="54864" cy="1874519"/>
          </a:xfrm>
          <a:prstGeom prst="roundRect">
            <a:avLst>
              <a:gd name="adj" fmla="val 15000"/>
            </a:avLst>
          </a:prstGeom>
          <a:solidFill>
            <a:srgbClr val="E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66176" y="193852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E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938528"/>
            <a:ext cx="384048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202747"/>
                </a:solidFill>
                <a:latin typeface="Aptos"/>
              </a:rPr>
              <a:t>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1920240"/>
            <a:ext cx="2578607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202747"/>
                </a:solidFill>
                <a:latin typeface="Aptos Display"/>
              </a:rPr>
              <a:t>Query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04872"/>
            <a:ext cx="3044951" cy="1078991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Indexes support event date filtering, membership counts, per-user history, and recent notices.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77639"/>
            <a:ext cx="6629400" cy="1645920"/>
          </a:xfrm>
          <a:prstGeom prst="roundRect">
            <a:avLst>
              <a:gd name="adj" fmla="val 15000"/>
            </a:avLst>
          </a:prstGeom>
          <a:solidFill>
            <a:srgbClr val="20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228600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8AD5C1"/>
                </a:solidFill>
                <a:latin typeface="Aptos"/>
              </a:rPr>
              <a:t>REPORTING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53712"/>
            <a:ext cx="589788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upcoming_events_view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19472"/>
            <a:ext cx="589788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4CBDB"/>
                </a:solidFill>
                <a:latin typeface="Aptos"/>
              </a:rPr>
              <a:t>Future events + host club + active registration count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25512" y="3977639"/>
            <a:ext cx="3995928" cy="1645920"/>
          </a:xfrm>
          <a:prstGeom prst="roundRect">
            <a:avLst>
              <a:gd name="adj" fmla="val 15000"/>
            </a:avLst>
          </a:prstGeom>
          <a:solidFill>
            <a:srgbClr val="EA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0688" y="4206240"/>
            <a:ext cx="347472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C8E7D"/>
                </a:solidFill>
                <a:latin typeface="Aptos"/>
              </a:rPr>
              <a:t>SQL ARTEFACTS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526280"/>
            <a:ext cx="338328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202747"/>
                </a:solidFill>
                <a:latin typeface="Aptos"/>
              </a:rPr>
              <a:t>•  schema_mysql.sql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4818888"/>
            <a:ext cx="338328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202747"/>
                </a:solidFill>
                <a:latin typeface="Aptos"/>
              </a:rPr>
              <a:t>•  schema_sqlite.sql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0688" y="5111496"/>
            <a:ext cx="338328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202747"/>
                </a:solidFill>
                <a:latin typeface="Aptos"/>
              </a:rPr>
              <a:t>•  crud_examples.sql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750" b="1" i="0">
                <a:solidFill>
                  <a:srgbClr val="9498A8"/>
                </a:solidFill>
                <a:latin typeface="Aptos"/>
              </a:rPr>
              <a:t>CAMPUSCONNECT  /  CS203 DBMS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750" b="1" i="0">
                <a:solidFill>
                  <a:srgbClr val="9498A8"/>
                </a:solidFill>
                <a:latin typeface="Aptos"/>
              </a:rPr>
              <a:t>07  / 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103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C8E7D"/>
                </a:solidFill>
                <a:latin typeface="Aptos"/>
              </a:rPr>
              <a:t>07 /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202747"/>
                </a:solidFill>
                <a:latin typeface="Aptos Display"/>
              </a:rPr>
              <a:t>From the browser to the database, in one simple 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77B90"/>
                </a:solidFill>
                <a:latin typeface="Aptos"/>
              </a:rPr>
              <a:t>A Flask web application connects the interface to SQL tables and business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297180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73152" cy="1234440"/>
          </a:xfrm>
          <a:prstGeom prst="roundRect">
            <a:avLst>
              <a:gd name="adj" fmla="val 15000"/>
            </a:avLst>
          </a:prstGeom>
          <a:solidFill>
            <a:srgbClr val="E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65960"/>
            <a:ext cx="26060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02747"/>
                </a:solidFill>
                <a:latin typeface="Aptos"/>
              </a:rPr>
              <a:t>01 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68296"/>
            <a:ext cx="2560320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HTML templates · CSS · 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783080"/>
            <a:ext cx="297180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20" y="1783080"/>
            <a:ext cx="73152" cy="1234440"/>
          </a:xfrm>
          <a:prstGeom prst="roundRect">
            <a:avLst>
              <a:gd name="adj" fmla="val 15000"/>
            </a:avLst>
          </a:prstGeom>
          <a:solidFill>
            <a:srgbClr val="EA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1965960"/>
            <a:ext cx="26060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02747"/>
                </a:solidFill>
                <a:latin typeface="Aptos"/>
              </a:rPr>
              <a:t>02  FLASK ROUTES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368296"/>
            <a:ext cx="2560320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Session login · validation · role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783080"/>
            <a:ext cx="297180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58200" y="1783080"/>
            <a:ext cx="73152" cy="1234440"/>
          </a:xfrm>
          <a:prstGeom prst="roundRect">
            <a:avLst>
              <a:gd name="adj" fmla="val 15000"/>
            </a:avLst>
          </a:prstGeom>
          <a:solidFill>
            <a:srgbClr val="FF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8" y="1965960"/>
            <a:ext cx="26060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02747"/>
                </a:solidFill>
                <a:latin typeface="Aptos"/>
              </a:rPr>
              <a:t>03  SQL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2368296"/>
            <a:ext cx="2560320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77B90"/>
                </a:solidFill>
                <a:latin typeface="Aptos"/>
              </a:rPr>
              <a:t>Foreign keys · constraints · indexes ·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2057400"/>
            <a:ext cx="530352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3C8E7D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2057400"/>
            <a:ext cx="530352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3C8E7D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429000"/>
            <a:ext cx="457200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3C8E7D"/>
                </a:solidFill>
                <a:latin typeface="Aptos"/>
              </a:rPr>
              <a:t>LIVE DEMO SEQUENCE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886200"/>
            <a:ext cx="2578608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" y="4041648"/>
            <a:ext cx="347472" cy="301752"/>
          </a:xfrm>
          <a:prstGeom prst="roundRect">
            <a:avLst>
              <a:gd name="adj" fmla="val 15000"/>
            </a:avLst>
          </a:prstGeom>
          <a:solidFill>
            <a:srgbClr val="EA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" y="4041648"/>
            <a:ext cx="201168" cy="30175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3C8E7D"/>
                </a:solidFill>
                <a:latin typeface="Aptos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23360"/>
            <a:ext cx="1783080" cy="2834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202747"/>
                </a:solidFill>
                <a:latin typeface="Aptos"/>
              </a:rPr>
              <a:t>Student account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489704"/>
            <a:ext cx="2267712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77B90"/>
                </a:solidFill>
                <a:latin typeface="Aptos"/>
              </a:rPr>
              <a:t>Sign up and log 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3886200"/>
            <a:ext cx="2578608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58184" y="4041648"/>
            <a:ext cx="347472" cy="301752"/>
          </a:xfrm>
          <a:prstGeom prst="roundRect">
            <a:avLst>
              <a:gd name="adj" fmla="val 15000"/>
            </a:avLst>
          </a:prstGeom>
          <a:solidFill>
            <a:srgbClr val="EA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31336" y="4041648"/>
            <a:ext cx="201168" cy="30175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3C8E7D"/>
                </a:solidFill>
                <a:latin typeface="Aptos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3672" y="4023360"/>
            <a:ext cx="1783080" cy="2834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202747"/>
                </a:solidFill>
                <a:latin typeface="Aptos"/>
              </a:rPr>
              <a:t>Participation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7328" y="4489704"/>
            <a:ext cx="2267712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77B90"/>
                </a:solidFill>
                <a:latin typeface="Aptos"/>
              </a:rPr>
              <a:t>Register for an event + join a club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3886200"/>
            <a:ext cx="2578608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92824" y="4041648"/>
            <a:ext cx="347472" cy="301752"/>
          </a:xfrm>
          <a:prstGeom prst="roundRect">
            <a:avLst>
              <a:gd name="adj" fmla="val 15000"/>
            </a:avLst>
          </a:prstGeom>
          <a:solidFill>
            <a:srgbClr val="EA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5976" y="4041648"/>
            <a:ext cx="201168" cy="30175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3C8E7D"/>
                </a:solidFill>
                <a:latin typeface="Aptos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4023360"/>
            <a:ext cx="1783080" cy="2834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202747"/>
                </a:solidFill>
                <a:latin typeface="Aptos"/>
              </a:rPr>
              <a:t>Admin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4489704"/>
            <a:ext cx="2267712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77B90"/>
                </a:solidFill>
                <a:latin typeface="Aptos"/>
              </a:rPr>
              <a:t>Create / edit event + publish notice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1160" y="3886200"/>
            <a:ext cx="2578608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27464" y="4041648"/>
            <a:ext cx="347472" cy="301752"/>
          </a:xfrm>
          <a:prstGeom prst="roundRect">
            <a:avLst>
              <a:gd name="adj" fmla="val 15000"/>
            </a:avLst>
          </a:prstGeom>
          <a:solidFill>
            <a:srgbClr val="EA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0616" y="4041648"/>
            <a:ext cx="201168" cy="30175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3C8E7D"/>
                </a:solidFill>
                <a:latin typeface="Aptos"/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2952" y="4023360"/>
            <a:ext cx="1783080" cy="28346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202747"/>
                </a:solidFill>
                <a:latin typeface="Aptos"/>
              </a:rPr>
              <a:t>SQL proof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36608" y="4489704"/>
            <a:ext cx="2267712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77B90"/>
                </a:solidFill>
                <a:latin typeface="Aptos"/>
              </a:rPr>
              <a:t>Show stored rows and reporting views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440680"/>
            <a:ext cx="10259568" cy="438912"/>
          </a:xfrm>
          <a:prstGeom prst="roundRect">
            <a:avLst>
              <a:gd name="adj" fmla="val 15000"/>
            </a:avLst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5532120"/>
            <a:ext cx="982980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946D4A"/>
                </a:solidFill>
                <a:latin typeface="Aptos"/>
              </a:rPr>
              <a:t>Demo credentials are for local use only. Run the browser workflow on the presentation machine before evaluation.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750" b="1" i="0">
                <a:solidFill>
                  <a:srgbClr val="9498A8"/>
                </a:solidFill>
                <a:latin typeface="Aptos"/>
              </a:rPr>
              <a:t>CAMPUSCONNECT  /  CS203 DBMS 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750" b="1" i="0">
                <a:solidFill>
                  <a:srgbClr val="9498A8"/>
                </a:solidFill>
                <a:latin typeface="Aptos"/>
              </a:rPr>
              <a:t>08  / 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3657600" cy="2103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8AD5C1"/>
                </a:solidFill>
                <a:latin typeface="Aptos"/>
              </a:rPr>
              <a:t>08 / TESTING &amp;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9875520" cy="53035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Built around the requirements.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0584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C5CADD"/>
                </a:solidFill>
                <a:latin typeface="Aptos"/>
              </a:rPr>
              <a:t>The database schema checks pass; the team should complete browser workflow checks locally before presenting.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11680"/>
            <a:ext cx="5074920" cy="3291840"/>
          </a:xfrm>
          <a:prstGeom prst="roundRect">
            <a:avLst>
              <a:gd name="adj" fmla="val 15000"/>
            </a:avLst>
          </a:prstGeom>
          <a:solidFill>
            <a:srgbClr val="29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67712"/>
            <a:ext cx="4389120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8AD5C1"/>
                </a:solidFill>
                <a:latin typeface="Aptos"/>
              </a:rPr>
              <a:t>VERIFIED AT SCHEMA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43200"/>
            <a:ext cx="22860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8AD5C1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743200"/>
            <a:ext cx="411480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Six expected tables and two views created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82112"/>
            <a:ext cx="22860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8AD5C1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182112"/>
            <a:ext cx="411480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Composite key rejects duplicate registrations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21024"/>
            <a:ext cx="22860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8AD5C1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621024"/>
            <a:ext cx="411480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Foreign keys block orphan memberships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59935"/>
            <a:ext cx="22860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8AD5C1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059935"/>
            <a:ext cx="411480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CHECK constraint rejects capacity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98848"/>
            <a:ext cx="22860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8AD5C1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498848"/>
            <a:ext cx="411480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Status update and reporting count tests pass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011680"/>
            <a:ext cx="5440680" cy="3291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67712"/>
            <a:ext cx="4480560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3C8E7D"/>
                </a:solidFill>
                <a:latin typeface="Aptos"/>
              </a:rPr>
              <a:t>BEFORE FINAL 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43200"/>
            <a:ext cx="22860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3C8E7D"/>
                </a:solidFill>
                <a:latin typeface="Aptos"/>
              </a:rPr>
              <a:t>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4" y="2743200"/>
            <a:ext cx="429768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52943"/>
                </a:solidFill>
                <a:latin typeface="Aptos"/>
              </a:rPr>
              <a:t>Fill in team name, names, and roll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82112"/>
            <a:ext cx="22860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3C8E7D"/>
                </a:solidFill>
                <a:latin typeface="Aptos"/>
              </a:rPr>
              <a:t>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3182112"/>
            <a:ext cx="429768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52943"/>
                </a:solidFill>
                <a:latin typeface="Aptos"/>
              </a:rPr>
              <a:t>Run Flask app and complete browser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21024"/>
            <a:ext cx="22860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3C8E7D"/>
                </a:solidFill>
                <a:latin typeface="Aptos"/>
              </a:rPr>
              <a:t>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3621024"/>
            <a:ext cx="429768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52943"/>
                </a:solidFill>
                <a:latin typeface="Aptos"/>
              </a:rPr>
              <a:t>Open MySQL schema in the agreed SQL 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59935"/>
            <a:ext cx="22860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3C8E7D"/>
                </a:solidFill>
                <a:latin typeface="Aptos"/>
              </a:rPr>
              <a:t>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9984" y="4059935"/>
            <a:ext cx="429768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52943"/>
                </a:solidFill>
                <a:latin typeface="Aptos"/>
              </a:rPr>
              <a:t>Capture screenshots and update test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98848"/>
            <a:ext cx="22860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3C8E7D"/>
                </a:solidFill>
                <a:latin typeface="Aptos"/>
              </a:rPr>
              <a:t>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4" y="4498848"/>
            <a:ext cx="429768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52943"/>
                </a:solidFill>
                <a:latin typeface="Aptos"/>
              </a:rPr>
              <a:t>Rehearse the live demo and explain the ER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715000"/>
            <a:ext cx="868680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 Display"/>
              </a:rPr>
              <a:t>CampusConnect  ·  One campus, more possibilities.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5797296"/>
            <a:ext cx="21031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8AD5C1"/>
                </a:solidFill>
                <a:latin typeface="Aptos"/>
              </a:rPr>
              <a:t>THANK YOU  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6556248"/>
            <a:ext cx="7315200" cy="1645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750" b="1" i="0">
                <a:solidFill>
                  <a:srgbClr val="AEB5CC"/>
                </a:solidFill>
                <a:latin typeface="Aptos"/>
              </a:rPr>
              <a:t>CAMPUSCONNECT  /  CS203 DBMS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750" b="1" i="0">
                <a:solidFill>
                  <a:srgbClr val="AEB5CC"/>
                </a:solidFill>
                <a:latin typeface="Aptos"/>
              </a:rPr>
              <a:t>09  / 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CampusConnect - DBMS Project Presentation</dc:title>
  <dc:subject>CS203 Database Management Systems Project, SVNIT Surat, 2026-27</dc:subject>
  <dc:creator>CampusConnect Project Team</dc:creator>
  <cp:keywords>CampusConnect, DBMS, ER diagram, SQL, SVNIT Surat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